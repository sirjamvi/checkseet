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77" r:id="rId5"/>
    <p:sldId id="278" r:id="rId6"/>
    <p:sldId id="279" r:id="rId7"/>
    <p:sldId id="260" r:id="rId8"/>
    <p:sldId id="272" r:id="rId9"/>
    <p:sldId id="273" r:id="rId10"/>
    <p:sldId id="280" r:id="rId11"/>
    <p:sldId id="281" r:id="rId12"/>
    <p:sldId id="270" r:id="rId13"/>
    <p:sldId id="271" r:id="rId14"/>
    <p:sldId id="276" r:id="rId15"/>
    <p:sldId id="274" r:id="rId16"/>
    <p:sldId id="275" r:id="rId17"/>
    <p:sldId id="269" r:id="rId18"/>
  </p:sldIdLst>
  <p:sldSz cx="18288000" cy="10287000"/>
  <p:notesSz cx="6858000" cy="9144000"/>
  <p:embeddedFontLst>
    <p:embeddedFont>
      <p:font typeface="Karnchang Bold" panose="020B0604020202020204" charset="-34"/>
      <p:regular r:id="rId20"/>
    </p:embeddedFont>
    <p:embeddedFont>
      <p:font typeface="Arimo" panose="020B0604020202020204" charset="0"/>
      <p:regular r:id="rId21"/>
    </p:embeddedFont>
    <p:embeddedFont>
      <p:font typeface="Montserrat Medium" panose="020B0604020202020204" charset="0"/>
      <p:regular r:id="rId22"/>
    </p:embeddedFont>
    <p:embeddedFont>
      <p:font typeface="Karnchang" panose="020B0604020202020204" charset="-34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0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A843A-96FA-4FD3-9761-F1297EE7AD86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B1A45-DC5A-4518-ACDE-74CD90404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4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B1A45-DC5A-4518-ACDE-74CD90404D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4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19125"/>
            <a:ext cx="8951437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PITCH DECK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04132"/>
            <a:ext cx="9725747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 MANAGEMENT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630956"/>
            <a:ext cx="554449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Oleh</a:t>
            </a:r>
            <a:r>
              <a:rPr lang="en-US" sz="3999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: </a:t>
            </a:r>
            <a:r>
              <a:rPr lang="en-US" sz="3999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MIS</a:t>
            </a:r>
            <a:endParaRPr lang="en-US" sz="3999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754447" y="-3093732"/>
            <a:ext cx="18901247" cy="17982775"/>
            <a:chOff x="0" y="0"/>
            <a:chExt cx="25201662" cy="23977033"/>
          </a:xfrm>
        </p:grpSpPr>
        <p:grpSp>
          <p:nvGrpSpPr>
            <p:cNvPr id="7" name="Group 7"/>
            <p:cNvGrpSpPr/>
            <p:nvPr/>
          </p:nvGrpSpPr>
          <p:grpSpPr>
            <a:xfrm rot="2252144">
              <a:off x="2887185" y="2861146"/>
              <a:ext cx="14259267" cy="14323066"/>
              <a:chOff x="0" y="0"/>
              <a:chExt cx="2816645" cy="282924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252144">
              <a:off x="4620058" y="6213209"/>
              <a:ext cx="14259267" cy="14323066"/>
              <a:chOff x="0" y="0"/>
              <a:chExt cx="2816645" cy="282924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252144">
              <a:off x="8055210" y="6792821"/>
              <a:ext cx="14259267" cy="14323066"/>
              <a:chOff x="0" y="0"/>
              <a:chExt cx="2816645" cy="282924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182284" y="2925928"/>
            <a:ext cx="12981516" cy="153177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1107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Latar</a:t>
            </a:r>
            <a:r>
              <a:rPr lang="en-US" sz="6500" dirty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6500" dirty="0" err="1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Belakang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06779" y="10698260"/>
            <a:ext cx="7956185" cy="331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tersebut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menyebabkan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terkait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dibutuhkan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waktu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cukup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lama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yaitu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sekitar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minggu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hadirnya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checkseet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management system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perusahaan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diharapkan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mendapat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informasi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akurat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cepat</a:t>
            </a:r>
            <a:r>
              <a:rPr lang="en-US" sz="27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667000" y="3091649"/>
            <a:ext cx="1158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Pengambilan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dilakukan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secara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konvensional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menggunakan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2182284" y="4946918"/>
            <a:ext cx="12981516" cy="1187182"/>
            <a:chOff x="0" y="0"/>
            <a:chExt cx="2187113" cy="468225"/>
          </a:xfrm>
        </p:grpSpPr>
        <p:sp>
          <p:nvSpPr>
            <p:cNvPr id="45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2667000" y="5217343"/>
            <a:ext cx="1150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Memudahkan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kontrol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approval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foreman, leader,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atau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supervisor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" name="Group 30"/>
          <p:cNvGrpSpPr/>
          <p:nvPr/>
        </p:nvGrpSpPr>
        <p:grpSpPr>
          <a:xfrm>
            <a:off x="2182284" y="6652037"/>
            <a:ext cx="12981516" cy="1232627"/>
            <a:chOff x="0" y="0"/>
            <a:chExt cx="2187113" cy="468225"/>
          </a:xfrm>
        </p:grpSpPr>
        <p:sp>
          <p:nvSpPr>
            <p:cNvPr id="49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50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51" name="Rectangle 50"/>
          <p:cNvSpPr/>
          <p:nvPr/>
        </p:nvSpPr>
        <p:spPr>
          <a:xfrm>
            <a:off x="2751195" y="6867876"/>
            <a:ext cx="104165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Memudahkan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karyawan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input data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mesin</a:t>
            </a:r>
            <a:r>
              <a:rPr lang="en-US" sz="240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produksi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971094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Flow Input Data </a:t>
            </a: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Sekarang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9818" y="4472283"/>
            <a:ext cx="15287533" cy="4565944"/>
            <a:chOff x="-9588706" y="-607388"/>
            <a:chExt cx="20383376" cy="4046127"/>
          </a:xfrm>
        </p:grpSpPr>
        <p:grpSp>
          <p:nvGrpSpPr>
            <p:cNvPr id="51" name="Group 51"/>
            <p:cNvGrpSpPr/>
            <p:nvPr/>
          </p:nvGrpSpPr>
          <p:grpSpPr>
            <a:xfrm>
              <a:off x="-9588706" y="-607388"/>
              <a:ext cx="20383376" cy="4046127"/>
              <a:chOff x="-1894066" y="-331010"/>
              <a:chExt cx="4026347" cy="79923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-1894066" y="-331010"/>
                <a:ext cx="543090" cy="192263"/>
              </a:xfrm>
              <a:custGeom>
                <a:avLst/>
                <a:gdLst/>
                <a:ahLst/>
                <a:cxnLst/>
                <a:rect l="l" t="t" r="r" b="b"/>
                <a:pathLst>
                  <a:path w="2132281" h="468225">
                    <a:moveTo>
                      <a:pt x="48769" y="0"/>
                    </a:moveTo>
                    <a:lnTo>
                      <a:pt x="2083511" y="0"/>
                    </a:lnTo>
                    <a:cubicBezTo>
                      <a:pt x="2096445" y="0"/>
                      <a:pt x="2108850" y="5138"/>
                      <a:pt x="2117996" y="14284"/>
                    </a:cubicBezTo>
                    <a:cubicBezTo>
                      <a:pt x="2127142" y="23430"/>
                      <a:pt x="2132281" y="35835"/>
                      <a:pt x="2132281" y="48769"/>
                    </a:cubicBezTo>
                    <a:lnTo>
                      <a:pt x="2132281" y="419456"/>
                    </a:lnTo>
                    <a:cubicBezTo>
                      <a:pt x="2132281" y="446390"/>
                      <a:pt x="2110446" y="468225"/>
                      <a:pt x="2083511" y="468225"/>
                    </a:cubicBezTo>
                    <a:lnTo>
                      <a:pt x="48769" y="468225"/>
                    </a:lnTo>
                    <a:cubicBezTo>
                      <a:pt x="21835" y="468225"/>
                      <a:pt x="0" y="446390"/>
                      <a:pt x="0" y="419456"/>
                    </a:cubicBezTo>
                    <a:lnTo>
                      <a:pt x="0" y="48769"/>
                    </a:lnTo>
                    <a:cubicBezTo>
                      <a:pt x="0" y="21835"/>
                      <a:pt x="21835" y="0"/>
                      <a:pt x="48769" y="0"/>
                    </a:cubicBezTo>
                    <a:close/>
                  </a:path>
                </a:pathLst>
              </a:custGeom>
              <a:solidFill>
                <a:srgbClr val="858789">
                  <a:alpha val="40000"/>
                </a:srgbClr>
              </a:solidFill>
              <a:ln w="19050" cap="rnd">
                <a:solidFill>
                  <a:srgbClr val="243342">
                    <a:alpha val="40000"/>
                  </a:srgbClr>
                </a:solidFill>
                <a:prstDash val="solid"/>
                <a:round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2132281" cy="506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2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-4420428" y="1168002"/>
              <a:ext cx="5213938" cy="8636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Karyawan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mengisi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form input data </a:t>
              </a:r>
              <a:r>
                <a:rPr lang="en-US" sz="2500" dirty="0" err="1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secara</a:t>
              </a:r>
              <a:r>
                <a:rPr lang="en-US" sz="2500" dirty="0" smtClean="0">
                  <a:solidFill>
                    <a:srgbClr val="000000"/>
                  </a:solidFill>
                  <a:latin typeface="Karnchang"/>
                  <a:ea typeface="Karnchang"/>
                  <a:cs typeface="Karnchang"/>
                  <a:sym typeface="Karnchang"/>
                </a:rPr>
                <a:t> manual</a:t>
              </a:r>
              <a:endParaRPr lang="en-US" sz="25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-2151636" y="78260"/>
              <a:ext cx="9156781" cy="442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519980" y="4729975"/>
            <a:ext cx="212171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START</a:t>
            </a:r>
            <a:endParaRPr lang="en-US" sz="36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57" name="Right Arrow 56"/>
          <p:cNvSpPr/>
          <p:nvPr/>
        </p:nvSpPr>
        <p:spPr>
          <a:xfrm>
            <a:off x="3881852" y="47845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346" y="2928010"/>
            <a:ext cx="3487494" cy="3487494"/>
          </a:xfrm>
          <a:prstGeom prst="rect">
            <a:avLst/>
          </a:prstGeom>
        </p:spPr>
      </p:pic>
      <p:sp>
        <p:nvSpPr>
          <p:cNvPr id="63" name="Right Arrow 62"/>
          <p:cNvSpPr/>
          <p:nvPr/>
        </p:nvSpPr>
        <p:spPr>
          <a:xfrm>
            <a:off x="8794352" y="476803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53" y="3788294"/>
            <a:ext cx="2180924" cy="2180924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0236820" y="6404424"/>
            <a:ext cx="319759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Proses Approval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oleh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leader, foreman,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atau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supervisor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6" name="Right Arrow 65"/>
          <p:cNvSpPr/>
          <p:nvPr/>
        </p:nvSpPr>
        <p:spPr>
          <a:xfrm>
            <a:off x="13535830" y="48036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52"/>
          <p:cNvSpPr/>
          <p:nvPr/>
        </p:nvSpPr>
        <p:spPr>
          <a:xfrm>
            <a:off x="15021562" y="4502410"/>
            <a:ext cx="2062044" cy="1098378"/>
          </a:xfrm>
          <a:custGeom>
            <a:avLst/>
            <a:gdLst/>
            <a:ahLst/>
            <a:cxnLst/>
            <a:rect l="l" t="t" r="r" b="b"/>
            <a:pathLst>
              <a:path w="2132281" h="468225">
                <a:moveTo>
                  <a:pt x="48769" y="0"/>
                </a:moveTo>
                <a:lnTo>
                  <a:pt x="2083511" y="0"/>
                </a:lnTo>
                <a:cubicBezTo>
                  <a:pt x="2096445" y="0"/>
                  <a:pt x="2108850" y="5138"/>
                  <a:pt x="2117996" y="14284"/>
                </a:cubicBezTo>
                <a:cubicBezTo>
                  <a:pt x="2127142" y="23430"/>
                  <a:pt x="2132281" y="35835"/>
                  <a:pt x="2132281" y="48769"/>
                </a:cubicBezTo>
                <a:lnTo>
                  <a:pt x="2132281" y="419456"/>
                </a:lnTo>
                <a:cubicBezTo>
                  <a:pt x="2132281" y="446390"/>
                  <a:pt x="2110446" y="468225"/>
                  <a:pt x="2083511" y="468225"/>
                </a:cubicBezTo>
                <a:lnTo>
                  <a:pt x="48769" y="468225"/>
                </a:lnTo>
                <a:cubicBezTo>
                  <a:pt x="21835" y="468225"/>
                  <a:pt x="0" y="446390"/>
                  <a:pt x="0" y="419456"/>
                </a:cubicBezTo>
                <a:lnTo>
                  <a:pt x="0" y="48769"/>
                </a:lnTo>
                <a:cubicBezTo>
                  <a:pt x="0" y="21835"/>
                  <a:pt x="21835" y="0"/>
                  <a:pt x="48769" y="0"/>
                </a:cubicBezTo>
                <a:close/>
              </a:path>
            </a:pathLst>
          </a:custGeom>
          <a:solidFill>
            <a:srgbClr val="858789">
              <a:alpha val="40000"/>
            </a:srgbClr>
          </a:solidFill>
          <a:ln w="19050" cap="rnd">
            <a:solidFill>
              <a:srgbClr val="243342">
                <a:alpha val="40000"/>
              </a:srgbClr>
            </a:solidFill>
            <a:prstDash val="solid"/>
            <a:round/>
          </a:ln>
        </p:spPr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FINISH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633175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Masalah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3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8114837" y="6280377"/>
            <a:ext cx="2743593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Waktu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yang lama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659" y="3642491"/>
            <a:ext cx="2302561" cy="2302561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695707" y="6068437"/>
            <a:ext cx="3871379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Sampah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kertas</a:t>
            </a: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500" dirty="0" err="1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menumpuk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104" y="3720185"/>
            <a:ext cx="2340792" cy="234079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1668" y="3637275"/>
            <a:ext cx="2451229" cy="245122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2983340" y="6358695"/>
            <a:ext cx="2292615" cy="5475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779"/>
              </a:lnSpc>
            </a:pPr>
            <a:r>
              <a:rPr lang="en-US" sz="25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Document Lost</a:t>
            </a:r>
            <a:endParaRPr lang="en-US" sz="25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</p:spTree>
    <p:extLst>
      <p:ext uri="{BB962C8B-B14F-4D97-AF65-F5344CB8AC3E}">
        <p14:creationId xmlns:p14="http://schemas.microsoft.com/office/powerpoint/2010/main" val="1266882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091" y="296276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525871" y="1440148"/>
            <a:ext cx="6331750" cy="735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44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Solusi</a:t>
            </a:r>
            <a:endParaRPr lang="en-US" sz="44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853667" y="956212"/>
            <a:ext cx="8096003" cy="2592961"/>
            <a:chOff x="0" y="-18541"/>
            <a:chExt cx="10794670" cy="345728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216" y="1168002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621459" y="349050"/>
            <a:ext cx="2168307" cy="44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 4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853667" y="3840067"/>
            <a:ext cx="8096003" cy="2592961"/>
            <a:chOff x="0" y="-18541"/>
            <a:chExt cx="10794670" cy="3457280"/>
          </a:xfrm>
        </p:grpSpPr>
        <p:sp>
          <p:nvSpPr>
            <p:cNvPr id="46" name="TextBox 46"/>
            <p:cNvSpPr txBox="1"/>
            <p:nvPr/>
          </p:nvSpPr>
          <p:spPr>
            <a:xfrm>
              <a:off x="0" y="875469"/>
              <a:ext cx="10794670" cy="2563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216" y="1168003"/>
              <a:ext cx="10204030" cy="616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9949" y="-18541"/>
              <a:ext cx="9156781" cy="665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0"/>
                </a:lnSpc>
              </a:pPr>
              <a:endPara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6405804" y="6671478"/>
            <a:ext cx="5478439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</a:pPr>
            <a:r>
              <a:rPr lang="en-US" sz="2800" dirty="0" smtClean="0">
                <a:solidFill>
                  <a:srgbClr val="000000"/>
                </a:solidFill>
                <a:latin typeface="Karnchang"/>
                <a:ea typeface="Karnchang"/>
                <a:cs typeface="Karnchang"/>
                <a:sym typeface="Karnchang"/>
              </a:rPr>
              <a:t>Online Management Input System</a:t>
            </a:r>
            <a:endParaRPr lang="en-US" sz="2800" dirty="0">
              <a:solidFill>
                <a:srgbClr val="000000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5260231" y="4739696"/>
            <a:ext cx="189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440" y="2934222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0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448280"/>
            <a:ext cx="16713866" cy="9245778"/>
            <a:chOff x="0" y="-38100"/>
            <a:chExt cx="4402006" cy="2435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829870" y="6290432"/>
            <a:ext cx="4054921" cy="1336452"/>
            <a:chOff x="0" y="0"/>
            <a:chExt cx="2187113" cy="4682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278279" y="-2594425"/>
            <a:ext cx="7384685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Pengambilan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data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mesin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produksi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dilakukan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secara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konvensional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menggunakan</a:t>
            </a:r>
            <a:r>
              <a:rPr lang="en-US" sz="28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kertas</a:t>
            </a:r>
            <a:endParaRPr lang="en-US" sz="28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22632" y="1673873"/>
            <a:ext cx="7731811" cy="81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 smtClean="0">
                <a:solidFill>
                  <a:srgbClr val="000000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Manfaat</a:t>
            </a:r>
            <a:endParaRPr lang="en-US" sz="6500" dirty="0">
              <a:solidFill>
                <a:srgbClr val="000000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122708"/>
            <a:ext cx="9144000" cy="5148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779"/>
              </a:lnSpc>
            </a:pPr>
            <a:endParaRPr lang="en-US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802820" y="6304118"/>
            <a:ext cx="40549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Proses input data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efisien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4" name="Group 30"/>
          <p:cNvGrpSpPr/>
          <p:nvPr/>
        </p:nvGrpSpPr>
        <p:grpSpPr>
          <a:xfrm>
            <a:off x="6759475" y="6320306"/>
            <a:ext cx="4965663" cy="1321957"/>
            <a:chOff x="-198109" y="-51407"/>
            <a:chExt cx="2385222" cy="519632"/>
          </a:xfrm>
        </p:grpSpPr>
        <p:sp>
          <p:nvSpPr>
            <p:cNvPr id="45" name="Freeform 31"/>
            <p:cNvSpPr/>
            <p:nvPr/>
          </p:nvSpPr>
          <p:spPr>
            <a:xfrm>
              <a:off x="-198109" y="-51407"/>
              <a:ext cx="2187113" cy="468225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46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47" name="Rectangle 46"/>
          <p:cNvSpPr/>
          <p:nvPr/>
        </p:nvSpPr>
        <p:spPr>
          <a:xfrm>
            <a:off x="6857844" y="6353686"/>
            <a:ext cx="44015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Mengurangi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penggunaan</a:t>
            </a:r>
            <a:endParaRPr lang="en-US" sz="2400" dirty="0" smtClean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kertas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" name="Group 30"/>
          <p:cNvGrpSpPr/>
          <p:nvPr/>
        </p:nvGrpSpPr>
        <p:grpSpPr>
          <a:xfrm>
            <a:off x="10774389" y="6295875"/>
            <a:ext cx="6047316" cy="3443419"/>
            <a:chOff x="0" y="-839790"/>
            <a:chExt cx="2187113" cy="1308015"/>
          </a:xfrm>
        </p:grpSpPr>
        <p:sp>
          <p:nvSpPr>
            <p:cNvPr id="49" name="Freeform 31"/>
            <p:cNvSpPr/>
            <p:nvPr/>
          </p:nvSpPr>
          <p:spPr>
            <a:xfrm>
              <a:off x="516953" y="-839790"/>
              <a:ext cx="1628173" cy="426248"/>
            </a:xfrm>
            <a:custGeom>
              <a:avLst/>
              <a:gdLst/>
              <a:ahLst/>
              <a:cxnLst/>
              <a:rect l="l" t="t" r="r" b="b"/>
              <a:pathLst>
                <a:path w="2187113" h="468225">
                  <a:moveTo>
                    <a:pt x="47547" y="0"/>
                  </a:moveTo>
                  <a:lnTo>
                    <a:pt x="2139566" y="0"/>
                  </a:lnTo>
                  <a:cubicBezTo>
                    <a:pt x="2152177" y="0"/>
                    <a:pt x="2164270" y="5009"/>
                    <a:pt x="2173187" y="13926"/>
                  </a:cubicBezTo>
                  <a:cubicBezTo>
                    <a:pt x="2182104" y="22843"/>
                    <a:pt x="2187113" y="34937"/>
                    <a:pt x="2187113" y="47547"/>
                  </a:cubicBezTo>
                  <a:lnTo>
                    <a:pt x="2187113" y="420678"/>
                  </a:lnTo>
                  <a:cubicBezTo>
                    <a:pt x="2187113" y="433288"/>
                    <a:pt x="2182104" y="445382"/>
                    <a:pt x="2173187" y="454299"/>
                  </a:cubicBezTo>
                  <a:cubicBezTo>
                    <a:pt x="2164270" y="463216"/>
                    <a:pt x="2152177" y="468225"/>
                    <a:pt x="2139566" y="468225"/>
                  </a:cubicBezTo>
                  <a:lnTo>
                    <a:pt x="47547" y="468225"/>
                  </a:lnTo>
                  <a:cubicBezTo>
                    <a:pt x="34937" y="468225"/>
                    <a:pt x="22843" y="463216"/>
                    <a:pt x="13926" y="454299"/>
                  </a:cubicBezTo>
                  <a:cubicBezTo>
                    <a:pt x="5009" y="445382"/>
                    <a:pt x="0" y="433288"/>
                    <a:pt x="0" y="420678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50" name="TextBox 32"/>
            <p:cNvSpPr txBox="1"/>
            <p:nvPr/>
          </p:nvSpPr>
          <p:spPr>
            <a:xfrm>
              <a:off x="0" y="-38100"/>
              <a:ext cx="2187113" cy="506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51" name="Rectangle 50"/>
          <p:cNvSpPr/>
          <p:nvPr/>
        </p:nvSpPr>
        <p:spPr>
          <a:xfrm>
            <a:off x="12358774" y="6462412"/>
            <a:ext cx="5219552" cy="583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lebih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mudah</a:t>
            </a:r>
            <a:r>
              <a:rPr lang="en-US" sz="2400" dirty="0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diakses</a:t>
            </a:r>
            <a:endParaRPr lang="en-US" sz="240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37" y="3317321"/>
            <a:ext cx="2453948" cy="24539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571" y="3336371"/>
            <a:ext cx="2667000" cy="2667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040" y="3199714"/>
            <a:ext cx="2861590" cy="286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93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6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3124200" y="2896618"/>
            <a:ext cx="12268200" cy="6361682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43100"/>
            <a:ext cx="6867586" cy="694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l">
              <a:lnSpc>
                <a:spcPts val="3680"/>
              </a:lnSpc>
              <a:buAutoNum type="arabicPeriod"/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Login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999" y="3047846"/>
            <a:ext cx="11626601" cy="6070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7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10363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2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402" y="2781360"/>
            <a:ext cx="13635659" cy="652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150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8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3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(Production)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606" y="2928009"/>
            <a:ext cx="13385482" cy="6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02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9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4. 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(Foregoing)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00" y="2827145"/>
            <a:ext cx="13651663" cy="64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88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10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96012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5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(Foregoing)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00" y="2740192"/>
            <a:ext cx="13640863" cy="665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4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11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3810465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6867586" cy="49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6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Lot Pending History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05" y="2900068"/>
            <a:ext cx="13129649" cy="639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80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12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575730"/>
            <a:ext cx="14222853" cy="698737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7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Input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Complete 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31" y="2737001"/>
            <a:ext cx="13688989" cy="66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4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13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75932" y="2705100"/>
            <a:ext cx="14222853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9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8. Approval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99" y="2865625"/>
            <a:ext cx="13828111" cy="668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631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14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857500"/>
            <a:ext cx="13810465" cy="62484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9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(1)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57" y="3136258"/>
            <a:ext cx="13412264" cy="57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4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7538080">
            <a:off x="-7029811" y="-5584933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124477">
            <a:off x="15979122" y="5429903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787067" y="904875"/>
            <a:ext cx="4965257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0"/>
              </a:lnSpc>
            </a:pPr>
            <a:r>
              <a:rPr lang="en-US" sz="65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Fitur</a:t>
            </a:r>
            <a:endParaRPr lang="en-US" sz="65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5665503" y="317552"/>
            <a:ext cx="2042119" cy="650325"/>
            <a:chOff x="0" y="0"/>
            <a:chExt cx="537842" cy="1712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7842" cy="171279"/>
            </a:xfrm>
            <a:custGeom>
              <a:avLst/>
              <a:gdLst/>
              <a:ahLst/>
              <a:cxnLst/>
              <a:rect l="l" t="t" r="r" b="b"/>
              <a:pathLst>
                <a:path w="537842" h="171279">
                  <a:moveTo>
                    <a:pt x="53076" y="0"/>
                  </a:moveTo>
                  <a:lnTo>
                    <a:pt x="484766" y="0"/>
                  </a:lnTo>
                  <a:cubicBezTo>
                    <a:pt x="514079" y="0"/>
                    <a:pt x="537842" y="23763"/>
                    <a:pt x="537842" y="53076"/>
                  </a:cubicBezTo>
                  <a:lnTo>
                    <a:pt x="537842" y="118203"/>
                  </a:lnTo>
                  <a:cubicBezTo>
                    <a:pt x="537842" y="132280"/>
                    <a:pt x="532250" y="145780"/>
                    <a:pt x="522296" y="155734"/>
                  </a:cubicBezTo>
                  <a:cubicBezTo>
                    <a:pt x="512343" y="165687"/>
                    <a:pt x="498843" y="171279"/>
                    <a:pt x="484766" y="171279"/>
                  </a:cubicBezTo>
                  <a:lnTo>
                    <a:pt x="53076" y="171279"/>
                  </a:lnTo>
                  <a:cubicBezTo>
                    <a:pt x="38999" y="171279"/>
                    <a:pt x="25499" y="165687"/>
                    <a:pt x="15546" y="155734"/>
                  </a:cubicBezTo>
                  <a:cubicBezTo>
                    <a:pt x="5592" y="145780"/>
                    <a:pt x="0" y="132280"/>
                    <a:pt x="0" y="118203"/>
                  </a:cubicBezTo>
                  <a:lnTo>
                    <a:pt x="0" y="53076"/>
                  </a:lnTo>
                  <a:cubicBezTo>
                    <a:pt x="0" y="38999"/>
                    <a:pt x="5592" y="25499"/>
                    <a:pt x="15546" y="15546"/>
                  </a:cubicBezTo>
                  <a:cubicBezTo>
                    <a:pt x="25499" y="5592"/>
                    <a:pt x="38999" y="0"/>
                    <a:pt x="53076" y="0"/>
                  </a:cubicBezTo>
                  <a:close/>
                </a:path>
              </a:pathLst>
            </a:custGeom>
            <a:solidFill>
              <a:srgbClr val="535659"/>
            </a:solidFill>
            <a:ln w="19050" cap="sq">
              <a:solidFill>
                <a:srgbClr val="243342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37842" cy="209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21459" y="349050"/>
            <a:ext cx="2168307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0" dirty="0" err="1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Halaman</a:t>
            </a:r>
            <a:r>
              <a:rPr lang="en-US" sz="2000" spc="120" dirty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 </a:t>
            </a:r>
            <a:r>
              <a:rPr lang="en-US" sz="2000" spc="120" dirty="0" smtClean="0">
                <a:solidFill>
                  <a:srgbClr val="FFFFFF"/>
                </a:solidFill>
                <a:latin typeface="Karnchang"/>
                <a:ea typeface="Karnchang"/>
                <a:cs typeface="Karnchang"/>
                <a:sym typeface="Karnchang"/>
              </a:rPr>
              <a:t>15</a:t>
            </a:r>
            <a:endParaRPr lang="en-US" sz="2000" spc="120" dirty="0">
              <a:solidFill>
                <a:srgbClr val="FFFFFF"/>
              </a:solidFill>
              <a:latin typeface="Karnchang"/>
              <a:ea typeface="Karnchang"/>
              <a:cs typeface="Karnchang"/>
              <a:sym typeface="Karnchang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286000" y="2628900"/>
            <a:ext cx="14330006" cy="7162800"/>
            <a:chOff x="0" y="0"/>
            <a:chExt cx="3631194" cy="16027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31194" cy="1602754"/>
            </a:xfrm>
            <a:custGeom>
              <a:avLst/>
              <a:gdLst/>
              <a:ahLst/>
              <a:cxnLst/>
              <a:rect l="l" t="t" r="r" b="b"/>
              <a:pathLst>
                <a:path w="3631194" h="1602754">
                  <a:moveTo>
                    <a:pt x="28638" y="0"/>
                  </a:moveTo>
                  <a:lnTo>
                    <a:pt x="3602556" y="0"/>
                  </a:lnTo>
                  <a:cubicBezTo>
                    <a:pt x="3618373" y="0"/>
                    <a:pt x="3631194" y="12822"/>
                    <a:pt x="3631194" y="28638"/>
                  </a:cubicBezTo>
                  <a:lnTo>
                    <a:pt x="3631194" y="1574116"/>
                  </a:lnTo>
                  <a:cubicBezTo>
                    <a:pt x="3631194" y="1581711"/>
                    <a:pt x="3628177" y="1588995"/>
                    <a:pt x="3622806" y="1594366"/>
                  </a:cubicBezTo>
                  <a:cubicBezTo>
                    <a:pt x="3617436" y="1599737"/>
                    <a:pt x="3610151" y="1602754"/>
                    <a:pt x="3602556" y="1602754"/>
                  </a:cubicBezTo>
                  <a:lnTo>
                    <a:pt x="28638" y="1602754"/>
                  </a:lnTo>
                  <a:cubicBezTo>
                    <a:pt x="21043" y="1602754"/>
                    <a:pt x="13759" y="1599737"/>
                    <a:pt x="8388" y="1594366"/>
                  </a:cubicBezTo>
                  <a:cubicBezTo>
                    <a:pt x="3017" y="1588995"/>
                    <a:pt x="0" y="1581711"/>
                    <a:pt x="0" y="1574116"/>
                  </a:cubicBezTo>
                  <a:lnTo>
                    <a:pt x="0" y="28638"/>
                  </a:lnTo>
                  <a:cubicBezTo>
                    <a:pt x="0" y="21043"/>
                    <a:pt x="3017" y="13759"/>
                    <a:pt x="8388" y="8388"/>
                  </a:cubicBezTo>
                  <a:cubicBezTo>
                    <a:pt x="13759" y="3017"/>
                    <a:pt x="21043" y="0"/>
                    <a:pt x="28638" y="0"/>
                  </a:cubicBezTo>
                  <a:close/>
                </a:path>
              </a:pathLst>
            </a:custGeom>
            <a:solidFill>
              <a:srgbClr val="858789">
                <a:alpha val="40000"/>
              </a:srgbClr>
            </a:solidFill>
            <a:ln w="19050" cap="rnd">
              <a:solidFill>
                <a:srgbClr val="243342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631194" cy="1640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33600" y="1977004"/>
            <a:ext cx="78486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2" lvl="1" algn="l">
              <a:lnSpc>
                <a:spcPts val="3680"/>
              </a:lnSpc>
            </a:pP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10. 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History </a:t>
            </a:r>
            <a:r>
              <a:rPr lang="en-US" sz="4000" dirty="0" err="1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Checksheet</a:t>
            </a:r>
            <a:r>
              <a:rPr lang="en-US" sz="4000" dirty="0" smtClean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(2)</a:t>
            </a:r>
            <a:endParaRPr lang="en-US" sz="4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44" y="2854624"/>
            <a:ext cx="13945663" cy="671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63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067" y="592941"/>
            <a:ext cx="16713866" cy="9101117"/>
            <a:chOff x="0" y="0"/>
            <a:chExt cx="4402006" cy="239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02006" cy="2397002"/>
            </a:xfrm>
            <a:custGeom>
              <a:avLst/>
              <a:gdLst/>
              <a:ahLst/>
              <a:cxnLst/>
              <a:rect l="l" t="t" r="r" b="b"/>
              <a:pathLst>
                <a:path w="4402006" h="2397002">
                  <a:moveTo>
                    <a:pt x="23623" y="0"/>
                  </a:moveTo>
                  <a:lnTo>
                    <a:pt x="4378382" y="0"/>
                  </a:lnTo>
                  <a:cubicBezTo>
                    <a:pt x="4391429" y="0"/>
                    <a:pt x="4402006" y="10577"/>
                    <a:pt x="4402006" y="23623"/>
                  </a:cubicBezTo>
                  <a:lnTo>
                    <a:pt x="4402006" y="2373379"/>
                  </a:lnTo>
                  <a:cubicBezTo>
                    <a:pt x="4402006" y="2379644"/>
                    <a:pt x="4399517" y="2385653"/>
                    <a:pt x="4395087" y="2390083"/>
                  </a:cubicBezTo>
                  <a:cubicBezTo>
                    <a:pt x="4390656" y="2394513"/>
                    <a:pt x="4384647" y="2397002"/>
                    <a:pt x="4378382" y="2397002"/>
                  </a:cubicBezTo>
                  <a:lnTo>
                    <a:pt x="23623" y="2397002"/>
                  </a:lnTo>
                  <a:cubicBezTo>
                    <a:pt x="17358" y="2397002"/>
                    <a:pt x="11349" y="2394513"/>
                    <a:pt x="6919" y="2390083"/>
                  </a:cubicBezTo>
                  <a:cubicBezTo>
                    <a:pt x="2489" y="2385653"/>
                    <a:pt x="0" y="2379644"/>
                    <a:pt x="0" y="2373379"/>
                  </a:cubicBezTo>
                  <a:lnTo>
                    <a:pt x="0" y="23623"/>
                  </a:lnTo>
                  <a:cubicBezTo>
                    <a:pt x="0" y="17358"/>
                    <a:pt x="2489" y="11349"/>
                    <a:pt x="6919" y="6919"/>
                  </a:cubicBezTo>
                  <a:cubicBezTo>
                    <a:pt x="11349" y="2489"/>
                    <a:pt x="17358" y="0"/>
                    <a:pt x="23623" y="0"/>
                  </a:cubicBezTo>
                  <a:close/>
                </a:path>
              </a:pathLst>
            </a:custGeom>
            <a:solidFill>
              <a:srgbClr val="E6EAEF"/>
            </a:solidFill>
            <a:ln w="19050" cap="rnd">
              <a:solidFill>
                <a:srgbClr val="243342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02006" cy="24351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9559999">
            <a:off x="-6690254" y="3123721"/>
            <a:ext cx="9808447" cy="9331824"/>
            <a:chOff x="0" y="0"/>
            <a:chExt cx="13077930" cy="12442432"/>
          </a:xfrm>
        </p:grpSpPr>
        <p:grpSp>
          <p:nvGrpSpPr>
            <p:cNvPr id="6" name="Group 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 rot="238117">
            <a:off x="14860579" y="-2339974"/>
            <a:ext cx="9808447" cy="9331824"/>
            <a:chOff x="0" y="0"/>
            <a:chExt cx="13077930" cy="12442432"/>
          </a:xfrm>
        </p:grpSpPr>
        <p:grpSp>
          <p:nvGrpSpPr>
            <p:cNvPr id="16" name="Group 16"/>
            <p:cNvGrpSpPr/>
            <p:nvPr/>
          </p:nvGrpSpPr>
          <p:grpSpPr>
            <a:xfrm rot="2252144">
              <a:off x="1498251" y="1484738"/>
              <a:ext cx="7399579" cy="7432687"/>
              <a:chOff x="0" y="0"/>
              <a:chExt cx="2816645" cy="28292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243342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252144">
              <a:off x="2397493" y="3224228"/>
              <a:ext cx="7399579" cy="7432687"/>
              <a:chOff x="0" y="0"/>
              <a:chExt cx="2816645" cy="282924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535659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252144">
              <a:off x="4180100" y="3525007"/>
              <a:ext cx="7399579" cy="7432687"/>
              <a:chOff x="0" y="0"/>
              <a:chExt cx="2816645" cy="282924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6645" cy="2829248"/>
              </a:xfrm>
              <a:custGeom>
                <a:avLst/>
                <a:gdLst/>
                <a:ahLst/>
                <a:cxnLst/>
                <a:rect l="l" t="t" r="r" b="b"/>
                <a:pathLst>
                  <a:path w="2816645" h="2829248">
                    <a:moveTo>
                      <a:pt x="0" y="0"/>
                    </a:moveTo>
                    <a:lnTo>
                      <a:pt x="2816645" y="0"/>
                    </a:lnTo>
                    <a:lnTo>
                      <a:pt x="2816645" y="2829248"/>
                    </a:lnTo>
                    <a:lnTo>
                      <a:pt x="0" y="2829248"/>
                    </a:lnTo>
                    <a:close/>
                  </a:path>
                </a:pathLst>
              </a:custGeom>
              <a:solidFill>
                <a:srgbClr val="858789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123825"/>
                <a:ext cx="2816645" cy="29530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2062800" y="4158106"/>
            <a:ext cx="14223925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00"/>
              </a:lnSpc>
            </a:pPr>
            <a:r>
              <a:rPr lang="en-US" sz="12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Terima</a:t>
            </a:r>
            <a:r>
              <a:rPr lang="en-US" sz="12000" dirty="0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 </a:t>
            </a:r>
            <a:r>
              <a:rPr lang="en-US" sz="12000" dirty="0" err="1">
                <a:solidFill>
                  <a:srgbClr val="243342"/>
                </a:solidFill>
                <a:latin typeface="Karnchang Bold"/>
                <a:ea typeface="Karnchang Bold"/>
                <a:cs typeface="Karnchang Bold"/>
                <a:sym typeface="Karnchang Bold"/>
              </a:rPr>
              <a:t>Kasih</a:t>
            </a:r>
            <a:endParaRPr lang="en-US" sz="12000" dirty="0">
              <a:solidFill>
                <a:srgbClr val="243342"/>
              </a:solidFill>
              <a:latin typeface="Karnchang Bold"/>
              <a:ea typeface="Karnchang Bold"/>
              <a:cs typeface="Karnchang Bold"/>
              <a:sym typeface="Karnchang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237</Words>
  <Application>Microsoft Office PowerPoint</Application>
  <PresentationFormat>Custom</PresentationFormat>
  <Paragraphs>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Karnchang Bold</vt:lpstr>
      <vt:lpstr>Arial</vt:lpstr>
      <vt:lpstr>Arimo</vt:lpstr>
      <vt:lpstr>Montserrat Medium</vt:lpstr>
      <vt:lpstr>Karnchang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abu-abu minimalis geometris seminar proposal presentasi</dc:title>
  <cp:lastModifiedBy>user</cp:lastModifiedBy>
  <cp:revision>19</cp:revision>
  <dcterms:created xsi:type="dcterms:W3CDTF">2006-08-16T00:00:00Z</dcterms:created>
  <dcterms:modified xsi:type="dcterms:W3CDTF">2024-07-26T03:43:03Z</dcterms:modified>
  <dc:identifier>DAGL7UTqsmA</dc:identifier>
</cp:coreProperties>
</file>